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sldIdLst>
    <p:sldId id="256" r:id="rId2"/>
    <p:sldId id="261" r:id="rId3"/>
    <p:sldId id="257" r:id="rId4"/>
    <p:sldId id="258" r:id="rId5"/>
    <p:sldId id="259"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E8BDCD-25F5-4D0D-A2BD-73A76BE7FC94}" type="doc">
      <dgm:prSet loTypeId="urn:microsoft.com/office/officeart/2005/8/layout/equation2" loCatId="process" qsTypeId="urn:microsoft.com/office/officeart/2005/8/quickstyle/simple1" qsCatId="simple" csTypeId="urn:microsoft.com/office/officeart/2005/8/colors/accent1_2" csCatId="accent1" phldr="1"/>
      <dgm:spPr/>
    </dgm:pt>
    <dgm:pt modelId="{E510F885-8855-4C26-BE2D-307CF4149F81}">
      <dgm:prSet phldrT="[Texto]"/>
      <dgm:spPr/>
      <dgm:t>
        <a:bodyPr/>
        <a:lstStyle/>
        <a:p>
          <a:r>
            <a:rPr lang="es-ES" dirty="0"/>
            <a:t>Old data</a:t>
          </a:r>
        </a:p>
      </dgm:t>
    </dgm:pt>
    <dgm:pt modelId="{63C95B88-0B0B-4A59-9392-BBF54721D9CF}" type="parTrans" cxnId="{2BE81D7F-6749-4907-81A8-15B3F101C51A}">
      <dgm:prSet/>
      <dgm:spPr/>
      <dgm:t>
        <a:bodyPr/>
        <a:lstStyle/>
        <a:p>
          <a:endParaRPr lang="es-ES"/>
        </a:p>
      </dgm:t>
    </dgm:pt>
    <dgm:pt modelId="{5046661E-5CF7-42BD-9D15-80D06BD5E515}" type="sibTrans" cxnId="{2BE81D7F-6749-4907-81A8-15B3F101C51A}">
      <dgm:prSet/>
      <dgm:spPr/>
      <dgm:t>
        <a:bodyPr/>
        <a:lstStyle/>
        <a:p>
          <a:endParaRPr lang="es-ES"/>
        </a:p>
      </dgm:t>
    </dgm:pt>
    <dgm:pt modelId="{0ED96A36-6A58-4CD1-829C-7F7A94B51C6C}">
      <dgm:prSet phldrT="[Texto]"/>
      <dgm:spPr/>
      <dgm:t>
        <a:bodyPr/>
        <a:lstStyle/>
        <a:p>
          <a:r>
            <a:rPr lang="es-ES" dirty="0"/>
            <a:t>New data</a:t>
          </a:r>
        </a:p>
      </dgm:t>
    </dgm:pt>
    <dgm:pt modelId="{7A0A86A1-94F7-4409-9770-DD39E41840DB}" type="parTrans" cxnId="{22CDF966-31AC-4F63-B6F6-D04D2365CF39}">
      <dgm:prSet/>
      <dgm:spPr/>
      <dgm:t>
        <a:bodyPr/>
        <a:lstStyle/>
        <a:p>
          <a:endParaRPr lang="es-ES"/>
        </a:p>
      </dgm:t>
    </dgm:pt>
    <dgm:pt modelId="{83C6093C-BF1A-4DE4-967C-1652930BD63A}" type="sibTrans" cxnId="{22CDF966-31AC-4F63-B6F6-D04D2365CF39}">
      <dgm:prSet/>
      <dgm:spPr/>
      <dgm:t>
        <a:bodyPr/>
        <a:lstStyle/>
        <a:p>
          <a:endParaRPr lang="es-ES"/>
        </a:p>
      </dgm:t>
    </dgm:pt>
    <dgm:pt modelId="{854BBFCB-52CF-492A-ADE5-F603326C25D4}">
      <dgm:prSet phldrT="[Texto]"/>
      <dgm:spPr/>
      <dgm:t>
        <a:bodyPr/>
        <a:lstStyle/>
        <a:p>
          <a:r>
            <a:rPr lang="es-ES" dirty="0" err="1"/>
            <a:t>Database</a:t>
          </a:r>
          <a:endParaRPr lang="es-ES" dirty="0"/>
        </a:p>
      </dgm:t>
    </dgm:pt>
    <dgm:pt modelId="{6E23E204-20F4-4102-8D05-8354002BFFB1}" type="parTrans" cxnId="{3023F299-5604-4E0E-B63F-3E1BA65E9417}">
      <dgm:prSet/>
      <dgm:spPr/>
      <dgm:t>
        <a:bodyPr/>
        <a:lstStyle/>
        <a:p>
          <a:endParaRPr lang="es-ES"/>
        </a:p>
      </dgm:t>
    </dgm:pt>
    <dgm:pt modelId="{30EB4734-A7AE-4AA2-9A9C-DD5EF468736B}" type="sibTrans" cxnId="{3023F299-5604-4E0E-B63F-3E1BA65E9417}">
      <dgm:prSet/>
      <dgm:spPr/>
      <dgm:t>
        <a:bodyPr/>
        <a:lstStyle/>
        <a:p>
          <a:endParaRPr lang="es-ES"/>
        </a:p>
      </dgm:t>
    </dgm:pt>
    <dgm:pt modelId="{AD9AEED3-62C6-4760-8DAA-31B272485635}" type="pres">
      <dgm:prSet presAssocID="{78E8BDCD-25F5-4D0D-A2BD-73A76BE7FC94}" presName="Name0" presStyleCnt="0">
        <dgm:presLayoutVars>
          <dgm:dir/>
          <dgm:resizeHandles val="exact"/>
        </dgm:presLayoutVars>
      </dgm:prSet>
      <dgm:spPr/>
    </dgm:pt>
    <dgm:pt modelId="{5E7B36B7-456A-4F8A-ADFA-07415FBFAC0B}" type="pres">
      <dgm:prSet presAssocID="{78E8BDCD-25F5-4D0D-A2BD-73A76BE7FC94}" presName="vNodes" presStyleCnt="0"/>
      <dgm:spPr/>
    </dgm:pt>
    <dgm:pt modelId="{91AB6C76-1C90-4DEA-862F-8EA5D03FC5E9}" type="pres">
      <dgm:prSet presAssocID="{E510F885-8855-4C26-BE2D-307CF4149F81}" presName="node" presStyleLbl="node1" presStyleIdx="0" presStyleCnt="3">
        <dgm:presLayoutVars>
          <dgm:bulletEnabled val="1"/>
        </dgm:presLayoutVars>
      </dgm:prSet>
      <dgm:spPr/>
    </dgm:pt>
    <dgm:pt modelId="{13DC5EEB-164B-4376-90A4-8DC17CEAF820}" type="pres">
      <dgm:prSet presAssocID="{5046661E-5CF7-42BD-9D15-80D06BD5E515}" presName="spacerT" presStyleCnt="0"/>
      <dgm:spPr/>
    </dgm:pt>
    <dgm:pt modelId="{4CD02E02-2D95-42AA-AD18-6D018D3A0B5F}" type="pres">
      <dgm:prSet presAssocID="{5046661E-5CF7-42BD-9D15-80D06BD5E515}" presName="sibTrans" presStyleLbl="sibTrans2D1" presStyleIdx="0" presStyleCnt="2"/>
      <dgm:spPr/>
    </dgm:pt>
    <dgm:pt modelId="{F0710DC5-C859-41C6-B581-8D75643E9331}" type="pres">
      <dgm:prSet presAssocID="{5046661E-5CF7-42BD-9D15-80D06BD5E515}" presName="spacerB" presStyleCnt="0"/>
      <dgm:spPr/>
    </dgm:pt>
    <dgm:pt modelId="{65E1F5DE-FD20-417A-A84A-BA086A62742F}" type="pres">
      <dgm:prSet presAssocID="{0ED96A36-6A58-4CD1-829C-7F7A94B51C6C}" presName="node" presStyleLbl="node1" presStyleIdx="1" presStyleCnt="3">
        <dgm:presLayoutVars>
          <dgm:bulletEnabled val="1"/>
        </dgm:presLayoutVars>
      </dgm:prSet>
      <dgm:spPr/>
    </dgm:pt>
    <dgm:pt modelId="{DFE7C09E-E706-4F3E-824A-B5231AF4A1ED}" type="pres">
      <dgm:prSet presAssocID="{78E8BDCD-25F5-4D0D-A2BD-73A76BE7FC94}" presName="sibTransLast" presStyleLbl="sibTrans2D1" presStyleIdx="1" presStyleCnt="2"/>
      <dgm:spPr/>
    </dgm:pt>
    <dgm:pt modelId="{604F8566-64AF-40EB-B79C-2AE6BE7641EA}" type="pres">
      <dgm:prSet presAssocID="{78E8BDCD-25F5-4D0D-A2BD-73A76BE7FC94}" presName="connectorText" presStyleLbl="sibTrans2D1" presStyleIdx="1" presStyleCnt="2"/>
      <dgm:spPr/>
    </dgm:pt>
    <dgm:pt modelId="{E3B2D040-AD34-40F4-BA29-39FEB8A99207}" type="pres">
      <dgm:prSet presAssocID="{78E8BDCD-25F5-4D0D-A2BD-73A76BE7FC94}" presName="lastNode" presStyleLbl="node1" presStyleIdx="2" presStyleCnt="3">
        <dgm:presLayoutVars>
          <dgm:bulletEnabled val="1"/>
        </dgm:presLayoutVars>
      </dgm:prSet>
      <dgm:spPr/>
    </dgm:pt>
  </dgm:ptLst>
  <dgm:cxnLst>
    <dgm:cxn modelId="{6F29C518-6086-4BA0-80F0-B9290F9152F1}" type="presOf" srcId="{83C6093C-BF1A-4DE4-967C-1652930BD63A}" destId="{DFE7C09E-E706-4F3E-824A-B5231AF4A1ED}" srcOrd="0" destOrd="0" presId="urn:microsoft.com/office/officeart/2005/8/layout/equation2"/>
    <dgm:cxn modelId="{CA868021-AD34-4ED6-A265-18D3A22C2C7A}" type="presOf" srcId="{E510F885-8855-4C26-BE2D-307CF4149F81}" destId="{91AB6C76-1C90-4DEA-862F-8EA5D03FC5E9}" srcOrd="0" destOrd="0" presId="urn:microsoft.com/office/officeart/2005/8/layout/equation2"/>
    <dgm:cxn modelId="{58479D21-5C49-44EA-AA2C-B766B354E954}" type="presOf" srcId="{78E8BDCD-25F5-4D0D-A2BD-73A76BE7FC94}" destId="{AD9AEED3-62C6-4760-8DAA-31B272485635}" srcOrd="0" destOrd="0" presId="urn:microsoft.com/office/officeart/2005/8/layout/equation2"/>
    <dgm:cxn modelId="{8327A335-EE0F-4264-8CA4-EEA905E05FBF}" type="presOf" srcId="{0ED96A36-6A58-4CD1-829C-7F7A94B51C6C}" destId="{65E1F5DE-FD20-417A-A84A-BA086A62742F}" srcOrd="0" destOrd="0" presId="urn:microsoft.com/office/officeart/2005/8/layout/equation2"/>
    <dgm:cxn modelId="{9AA94866-622A-41FA-B6D6-2412D3F2826B}" type="presOf" srcId="{5046661E-5CF7-42BD-9D15-80D06BD5E515}" destId="{4CD02E02-2D95-42AA-AD18-6D018D3A0B5F}" srcOrd="0" destOrd="0" presId="urn:microsoft.com/office/officeart/2005/8/layout/equation2"/>
    <dgm:cxn modelId="{22CDF966-31AC-4F63-B6F6-D04D2365CF39}" srcId="{78E8BDCD-25F5-4D0D-A2BD-73A76BE7FC94}" destId="{0ED96A36-6A58-4CD1-829C-7F7A94B51C6C}" srcOrd="1" destOrd="0" parTransId="{7A0A86A1-94F7-4409-9770-DD39E41840DB}" sibTransId="{83C6093C-BF1A-4DE4-967C-1652930BD63A}"/>
    <dgm:cxn modelId="{2BE81D7F-6749-4907-81A8-15B3F101C51A}" srcId="{78E8BDCD-25F5-4D0D-A2BD-73A76BE7FC94}" destId="{E510F885-8855-4C26-BE2D-307CF4149F81}" srcOrd="0" destOrd="0" parTransId="{63C95B88-0B0B-4A59-9392-BBF54721D9CF}" sibTransId="{5046661E-5CF7-42BD-9D15-80D06BD5E515}"/>
    <dgm:cxn modelId="{131CE47F-A9FD-4C18-8849-41EADD6CB5E7}" type="presOf" srcId="{854BBFCB-52CF-492A-ADE5-F603326C25D4}" destId="{E3B2D040-AD34-40F4-BA29-39FEB8A99207}" srcOrd="0" destOrd="0" presId="urn:microsoft.com/office/officeart/2005/8/layout/equation2"/>
    <dgm:cxn modelId="{3023F299-5604-4E0E-B63F-3E1BA65E9417}" srcId="{78E8BDCD-25F5-4D0D-A2BD-73A76BE7FC94}" destId="{854BBFCB-52CF-492A-ADE5-F603326C25D4}" srcOrd="2" destOrd="0" parTransId="{6E23E204-20F4-4102-8D05-8354002BFFB1}" sibTransId="{30EB4734-A7AE-4AA2-9A9C-DD5EF468736B}"/>
    <dgm:cxn modelId="{3C5719A9-B007-4581-AF08-A541AEB8A83C}" type="presOf" srcId="{83C6093C-BF1A-4DE4-967C-1652930BD63A}" destId="{604F8566-64AF-40EB-B79C-2AE6BE7641EA}" srcOrd="1" destOrd="0" presId="urn:microsoft.com/office/officeart/2005/8/layout/equation2"/>
    <dgm:cxn modelId="{08D660D8-CBE6-47CA-AD28-DACD7E48B88E}" type="presParOf" srcId="{AD9AEED3-62C6-4760-8DAA-31B272485635}" destId="{5E7B36B7-456A-4F8A-ADFA-07415FBFAC0B}" srcOrd="0" destOrd="0" presId="urn:microsoft.com/office/officeart/2005/8/layout/equation2"/>
    <dgm:cxn modelId="{F60C4DE0-F72D-4704-9B36-BA159A9C5AC8}" type="presParOf" srcId="{5E7B36B7-456A-4F8A-ADFA-07415FBFAC0B}" destId="{91AB6C76-1C90-4DEA-862F-8EA5D03FC5E9}" srcOrd="0" destOrd="0" presId="urn:microsoft.com/office/officeart/2005/8/layout/equation2"/>
    <dgm:cxn modelId="{7E54C5DD-118C-4FC2-BE02-37331DDDF632}" type="presParOf" srcId="{5E7B36B7-456A-4F8A-ADFA-07415FBFAC0B}" destId="{13DC5EEB-164B-4376-90A4-8DC17CEAF820}" srcOrd="1" destOrd="0" presId="urn:microsoft.com/office/officeart/2005/8/layout/equation2"/>
    <dgm:cxn modelId="{B475498F-9C15-425B-ACDD-259F235DCDFE}" type="presParOf" srcId="{5E7B36B7-456A-4F8A-ADFA-07415FBFAC0B}" destId="{4CD02E02-2D95-42AA-AD18-6D018D3A0B5F}" srcOrd="2" destOrd="0" presId="urn:microsoft.com/office/officeart/2005/8/layout/equation2"/>
    <dgm:cxn modelId="{B66F5E99-162E-447A-9A60-53F76EA9C980}" type="presParOf" srcId="{5E7B36B7-456A-4F8A-ADFA-07415FBFAC0B}" destId="{F0710DC5-C859-41C6-B581-8D75643E9331}" srcOrd="3" destOrd="0" presId="urn:microsoft.com/office/officeart/2005/8/layout/equation2"/>
    <dgm:cxn modelId="{E7B761FD-E30C-4D72-97B2-99668569D781}" type="presParOf" srcId="{5E7B36B7-456A-4F8A-ADFA-07415FBFAC0B}" destId="{65E1F5DE-FD20-417A-A84A-BA086A62742F}" srcOrd="4" destOrd="0" presId="urn:microsoft.com/office/officeart/2005/8/layout/equation2"/>
    <dgm:cxn modelId="{3D459BE6-FC2C-450B-984F-8A987DD18DA4}" type="presParOf" srcId="{AD9AEED3-62C6-4760-8DAA-31B272485635}" destId="{DFE7C09E-E706-4F3E-824A-B5231AF4A1ED}" srcOrd="1" destOrd="0" presId="urn:microsoft.com/office/officeart/2005/8/layout/equation2"/>
    <dgm:cxn modelId="{DD6E5FA2-1E33-47E7-B201-9EEFD3081373}" type="presParOf" srcId="{DFE7C09E-E706-4F3E-824A-B5231AF4A1ED}" destId="{604F8566-64AF-40EB-B79C-2AE6BE7641EA}" srcOrd="0" destOrd="0" presId="urn:microsoft.com/office/officeart/2005/8/layout/equation2"/>
    <dgm:cxn modelId="{5E6D9B73-0632-4D51-8239-05D0E73D17CD}" type="presParOf" srcId="{AD9AEED3-62C6-4760-8DAA-31B272485635}" destId="{E3B2D040-AD34-40F4-BA29-39FEB8A99207}" srcOrd="2" destOrd="0" presId="urn:microsoft.com/office/officeart/2005/8/layout/equati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AB6C76-1C90-4DEA-862F-8EA5D03FC5E9}">
      <dsp:nvSpPr>
        <dsp:cNvPr id="0" name=""/>
        <dsp:cNvSpPr/>
      </dsp:nvSpPr>
      <dsp:spPr>
        <a:xfrm>
          <a:off x="509984" y="1963"/>
          <a:ext cx="1974453" cy="1974453"/>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2133600">
            <a:lnSpc>
              <a:spcPct val="90000"/>
            </a:lnSpc>
            <a:spcBef>
              <a:spcPct val="0"/>
            </a:spcBef>
            <a:spcAft>
              <a:spcPct val="35000"/>
            </a:spcAft>
            <a:buNone/>
          </a:pPr>
          <a:r>
            <a:rPr lang="es-ES" sz="4800" kern="1200" dirty="0"/>
            <a:t>Old data</a:t>
          </a:r>
        </a:p>
      </dsp:txBody>
      <dsp:txXfrm>
        <a:off x="799136" y="291115"/>
        <a:ext cx="1396149" cy="1396149"/>
      </dsp:txXfrm>
    </dsp:sp>
    <dsp:sp modelId="{4CD02E02-2D95-42AA-AD18-6D018D3A0B5F}">
      <dsp:nvSpPr>
        <dsp:cNvPr id="0" name=""/>
        <dsp:cNvSpPr/>
      </dsp:nvSpPr>
      <dsp:spPr>
        <a:xfrm>
          <a:off x="924619" y="2136742"/>
          <a:ext cx="1145182" cy="1145182"/>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s-ES" sz="2000" kern="1200"/>
        </a:p>
      </dsp:txBody>
      <dsp:txXfrm>
        <a:off x="1076413" y="2574660"/>
        <a:ext cx="841594" cy="269346"/>
      </dsp:txXfrm>
    </dsp:sp>
    <dsp:sp modelId="{65E1F5DE-FD20-417A-A84A-BA086A62742F}">
      <dsp:nvSpPr>
        <dsp:cNvPr id="0" name=""/>
        <dsp:cNvSpPr/>
      </dsp:nvSpPr>
      <dsp:spPr>
        <a:xfrm>
          <a:off x="509984" y="3442250"/>
          <a:ext cx="1974453" cy="1974453"/>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2133600">
            <a:lnSpc>
              <a:spcPct val="90000"/>
            </a:lnSpc>
            <a:spcBef>
              <a:spcPct val="0"/>
            </a:spcBef>
            <a:spcAft>
              <a:spcPct val="35000"/>
            </a:spcAft>
            <a:buNone/>
          </a:pPr>
          <a:r>
            <a:rPr lang="es-ES" sz="4800" kern="1200" dirty="0"/>
            <a:t>New data</a:t>
          </a:r>
        </a:p>
      </dsp:txBody>
      <dsp:txXfrm>
        <a:off x="799136" y="3731402"/>
        <a:ext cx="1396149" cy="1396149"/>
      </dsp:txXfrm>
    </dsp:sp>
    <dsp:sp modelId="{DFE7C09E-E706-4F3E-824A-B5231AF4A1ED}">
      <dsp:nvSpPr>
        <dsp:cNvPr id="0" name=""/>
        <dsp:cNvSpPr/>
      </dsp:nvSpPr>
      <dsp:spPr>
        <a:xfrm>
          <a:off x="2780605" y="2342085"/>
          <a:ext cx="627876" cy="73449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466850">
            <a:lnSpc>
              <a:spcPct val="90000"/>
            </a:lnSpc>
            <a:spcBef>
              <a:spcPct val="0"/>
            </a:spcBef>
            <a:spcAft>
              <a:spcPct val="35000"/>
            </a:spcAft>
            <a:buNone/>
          </a:pPr>
          <a:endParaRPr lang="es-ES" sz="3300" kern="1200"/>
        </a:p>
      </dsp:txBody>
      <dsp:txXfrm>
        <a:off x="2780605" y="2488984"/>
        <a:ext cx="439513" cy="440698"/>
      </dsp:txXfrm>
    </dsp:sp>
    <dsp:sp modelId="{E3B2D040-AD34-40F4-BA29-39FEB8A99207}">
      <dsp:nvSpPr>
        <dsp:cNvPr id="0" name=""/>
        <dsp:cNvSpPr/>
      </dsp:nvSpPr>
      <dsp:spPr>
        <a:xfrm>
          <a:off x="3669109" y="734880"/>
          <a:ext cx="3948906" cy="3948906"/>
        </a:xfrm>
        <a:prstGeom prst="ellips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r>
            <a:rPr lang="es-ES" sz="5100" kern="1200" dirty="0" err="1"/>
            <a:t>Database</a:t>
          </a:r>
          <a:endParaRPr lang="es-ES" sz="5100" kern="1200" dirty="0"/>
        </a:p>
      </dsp:txBody>
      <dsp:txXfrm>
        <a:off x="4247413" y="1313184"/>
        <a:ext cx="2792298" cy="2792298"/>
      </dsp:txXfrm>
    </dsp:sp>
  </dsp:spTree>
</dsp:drawing>
</file>

<file path=ppt/diagrams/layout1.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1274545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4146983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469373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E7C34B3-676D-475D-A622-CA16B705BD98}" type="datetimeFigureOut">
              <a:rPr lang="es-ES" smtClean="0"/>
              <a:t>30/04/2026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3764357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E7C34B3-676D-475D-A622-CA16B705BD98}" type="datetimeFigureOut">
              <a:rPr lang="es-ES" smtClean="0"/>
              <a:t>30/04/2026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1461563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E7C34B3-676D-475D-A622-CA16B705BD98}" type="datetimeFigureOut">
              <a:rPr lang="es-ES" smtClean="0"/>
              <a:t>30/04/2026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84512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7C34B3-676D-475D-A622-CA16B705BD98}" type="datetimeFigureOut">
              <a:rPr lang="es-ES" smtClean="0"/>
              <a:t>30/04/2026</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40025004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E7C34B3-676D-475D-A622-CA16B705BD98}" type="datetimeFigureOut">
              <a:rPr lang="es-ES" smtClean="0"/>
              <a:t>30/04/2026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1982247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5C0062F-B457-4FB4-8670-D2C7E7C4E3CC}" type="slidenum">
              <a:rPr lang="es-ES" smtClean="0"/>
              <a:t>‹Nº›</a:t>
            </a:fld>
            <a:endParaRPr lang="es-ES"/>
          </a:p>
        </p:txBody>
      </p:sp>
      <p:sp>
        <p:nvSpPr>
          <p:cNvPr id="5" name="Date Placeholder 4"/>
          <p:cNvSpPr>
            <a:spLocks noGrp="1"/>
          </p:cNvSpPr>
          <p:nvPr>
            <p:ph type="dt" sz="half" idx="10"/>
          </p:nvPr>
        </p:nvSpPr>
        <p:spPr/>
        <p:txBody>
          <a:bodyPr/>
          <a:lstStyle/>
          <a:p>
            <a:fld id="{4E7C34B3-676D-475D-A622-CA16B705BD98}" type="datetimeFigureOut">
              <a:rPr lang="es-ES" smtClean="0"/>
              <a:t>30/04/2026</a:t>
            </a:fld>
            <a:endParaRPr lang="es-ES"/>
          </a:p>
        </p:txBody>
      </p:sp>
    </p:spTree>
    <p:extLst>
      <p:ext uri="{BB962C8B-B14F-4D97-AF65-F5344CB8AC3E}">
        <p14:creationId xmlns:p14="http://schemas.microsoft.com/office/powerpoint/2010/main" val="867322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2672758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798366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6802552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059248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2044685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33117168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E7C34B3-676D-475D-A622-CA16B705BD98}" type="datetimeFigureOut">
              <a:rPr lang="es-ES" smtClean="0"/>
              <a:t>30/04/2026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C0062F-B457-4FB4-8670-D2C7E7C4E3CC}" type="slidenum">
              <a:rPr lang="es-ES" smtClean="0"/>
              <a:t>‹Nº›</a:t>
            </a:fld>
            <a:endParaRPr lang="es-ES"/>
          </a:p>
        </p:txBody>
      </p:sp>
    </p:spTree>
    <p:extLst>
      <p:ext uri="{BB962C8B-B14F-4D97-AF65-F5344CB8AC3E}">
        <p14:creationId xmlns:p14="http://schemas.microsoft.com/office/powerpoint/2010/main" val="250395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E7C34B3-676D-475D-A622-CA16B705BD98}" type="datetimeFigureOut">
              <a:rPr lang="es-ES" smtClean="0"/>
              <a:t>30/04/2026</a:t>
            </a:fld>
            <a:endParaRPr lang="es-E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5C0062F-B457-4FB4-8670-D2C7E7C4E3CC}" type="slidenum">
              <a:rPr lang="es-ES" smtClean="0"/>
              <a:t>‹Nº›</a:t>
            </a:fld>
            <a:endParaRPr lang="es-ES"/>
          </a:p>
        </p:txBody>
      </p:sp>
    </p:spTree>
    <p:extLst>
      <p:ext uri="{BB962C8B-B14F-4D97-AF65-F5344CB8AC3E}">
        <p14:creationId xmlns:p14="http://schemas.microsoft.com/office/powerpoint/2010/main" val="4000574180"/>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B9BFB2-ECF7-49AA-9C55-1FFB7866506E}"/>
              </a:ext>
            </a:extLst>
          </p:cNvPr>
          <p:cNvSpPr>
            <a:spLocks noGrp="1"/>
          </p:cNvSpPr>
          <p:nvPr>
            <p:ph type="ctrTitle"/>
          </p:nvPr>
        </p:nvSpPr>
        <p:spPr/>
        <p:txBody>
          <a:bodyPr>
            <a:normAutofit fontScale="90000"/>
          </a:bodyPr>
          <a:lstStyle/>
          <a:p>
            <a:r>
              <a:rPr lang="en-US" dirty="0"/>
              <a:t>COLLECTION OF INFORMATION FOR THE DATABASE</a:t>
            </a:r>
            <a:endParaRPr lang="es-ES" dirty="0"/>
          </a:p>
        </p:txBody>
      </p:sp>
    </p:spTree>
    <p:extLst>
      <p:ext uri="{BB962C8B-B14F-4D97-AF65-F5344CB8AC3E}">
        <p14:creationId xmlns:p14="http://schemas.microsoft.com/office/powerpoint/2010/main" val="209354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0DABDD-3872-44F5-9770-A0F3D053D54C}"/>
              </a:ext>
            </a:extLst>
          </p:cNvPr>
          <p:cNvSpPr>
            <a:spLocks noGrp="1"/>
          </p:cNvSpPr>
          <p:nvPr>
            <p:ph type="title"/>
          </p:nvPr>
        </p:nvSpPr>
        <p:spPr/>
        <p:txBody>
          <a:bodyPr/>
          <a:lstStyle/>
          <a:p>
            <a:r>
              <a:rPr lang="es-ES" dirty="0"/>
              <a:t>CONTENTS</a:t>
            </a:r>
          </a:p>
        </p:txBody>
      </p:sp>
      <p:sp>
        <p:nvSpPr>
          <p:cNvPr id="3" name="Marcador de contenido 2">
            <a:extLst>
              <a:ext uri="{FF2B5EF4-FFF2-40B4-BE49-F238E27FC236}">
                <a16:creationId xmlns:a16="http://schemas.microsoft.com/office/drawing/2014/main" id="{F6A5DAD3-FEE0-45C4-9E3E-3B31A6B4CB8F}"/>
              </a:ext>
            </a:extLst>
          </p:cNvPr>
          <p:cNvSpPr>
            <a:spLocks noGrp="1"/>
          </p:cNvSpPr>
          <p:nvPr>
            <p:ph idx="1"/>
          </p:nvPr>
        </p:nvSpPr>
        <p:spPr/>
        <p:txBody>
          <a:bodyPr/>
          <a:lstStyle/>
          <a:p>
            <a:pPr>
              <a:buAutoNum type="arabicPeriod"/>
            </a:pPr>
            <a:r>
              <a:rPr lang="en-US" dirty="0"/>
              <a:t>Database Flow</a:t>
            </a:r>
          </a:p>
          <a:p>
            <a:pPr>
              <a:buAutoNum type="arabicPeriod"/>
            </a:pPr>
            <a:endParaRPr lang="en-US" dirty="0"/>
          </a:p>
          <a:p>
            <a:pPr>
              <a:buAutoNum type="arabicPeriod"/>
            </a:pPr>
            <a:r>
              <a:rPr lang="en-US" dirty="0"/>
              <a:t>Old data</a:t>
            </a:r>
          </a:p>
          <a:p>
            <a:pPr>
              <a:buAutoNum type="arabicPeriod"/>
            </a:pPr>
            <a:endParaRPr lang="en-US" dirty="0"/>
          </a:p>
          <a:p>
            <a:pPr>
              <a:buAutoNum type="arabicPeriod"/>
            </a:pPr>
            <a:r>
              <a:rPr lang="en-US" dirty="0"/>
              <a:t>New data</a:t>
            </a:r>
          </a:p>
          <a:p>
            <a:pPr>
              <a:buAutoNum type="arabicPeriod"/>
            </a:pPr>
            <a:endParaRPr lang="en-US" dirty="0"/>
          </a:p>
          <a:p>
            <a:pPr>
              <a:buAutoNum type="arabicPeriod"/>
            </a:pPr>
            <a:r>
              <a:rPr lang="en-US" dirty="0"/>
              <a:t>Tools used</a:t>
            </a:r>
            <a:endParaRPr lang="es-ES" dirty="0"/>
          </a:p>
        </p:txBody>
      </p:sp>
    </p:spTree>
    <p:extLst>
      <p:ext uri="{BB962C8B-B14F-4D97-AF65-F5344CB8AC3E}">
        <p14:creationId xmlns:p14="http://schemas.microsoft.com/office/powerpoint/2010/main" val="1400650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a 6">
            <a:extLst>
              <a:ext uri="{FF2B5EF4-FFF2-40B4-BE49-F238E27FC236}">
                <a16:creationId xmlns:a16="http://schemas.microsoft.com/office/drawing/2014/main" id="{21608392-F9AC-4BFD-AFA9-346CB60821E9}"/>
              </a:ext>
            </a:extLst>
          </p:cNvPr>
          <p:cNvGraphicFramePr/>
          <p:nvPr>
            <p:extLst>
              <p:ext uri="{D42A27DB-BD31-4B8C-83A1-F6EECF244321}">
                <p14:modId xmlns:p14="http://schemas.microsoft.com/office/powerpoint/2010/main" val="2576577047"/>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5899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0DABDD-3872-44F5-9770-A0F3D053D54C}"/>
              </a:ext>
            </a:extLst>
          </p:cNvPr>
          <p:cNvSpPr>
            <a:spLocks noGrp="1"/>
          </p:cNvSpPr>
          <p:nvPr>
            <p:ph type="title"/>
          </p:nvPr>
        </p:nvSpPr>
        <p:spPr/>
        <p:txBody>
          <a:bodyPr/>
          <a:lstStyle/>
          <a:p>
            <a:pPr lvl="0"/>
            <a:r>
              <a:rPr lang="es-ES" dirty="0"/>
              <a:t>Old data</a:t>
            </a:r>
          </a:p>
        </p:txBody>
      </p:sp>
      <p:sp>
        <p:nvSpPr>
          <p:cNvPr id="3" name="Marcador de contenido 2">
            <a:extLst>
              <a:ext uri="{FF2B5EF4-FFF2-40B4-BE49-F238E27FC236}">
                <a16:creationId xmlns:a16="http://schemas.microsoft.com/office/drawing/2014/main" id="{F6A5DAD3-FEE0-45C4-9E3E-3B31A6B4CB8F}"/>
              </a:ext>
            </a:extLst>
          </p:cNvPr>
          <p:cNvSpPr>
            <a:spLocks noGrp="1"/>
          </p:cNvSpPr>
          <p:nvPr>
            <p:ph idx="1"/>
          </p:nvPr>
        </p:nvSpPr>
        <p:spPr/>
        <p:txBody>
          <a:bodyPr/>
          <a:lstStyle/>
          <a:p>
            <a:r>
              <a:rPr lang="en-US" dirty="0"/>
              <a:t>This is the existing patient data that will be aggregated to create the primary database</a:t>
            </a:r>
            <a:r>
              <a:rPr lang="es-ES" dirty="0"/>
              <a:t>. </a:t>
            </a:r>
          </a:p>
          <a:p>
            <a:r>
              <a:rPr lang="en-US" dirty="0"/>
              <a:t>This data will help us establish the initial structure and serve as a model for future data ingestion</a:t>
            </a:r>
            <a:r>
              <a:rPr lang="es-ES" dirty="0"/>
              <a:t>.</a:t>
            </a:r>
          </a:p>
          <a:p>
            <a:r>
              <a:rPr lang="en-US" dirty="0"/>
              <a:t>To do this, we will use MySQL, a powerful database management system ideal for creating schemas and aggregating large volumes of data quickly and efficiently</a:t>
            </a:r>
            <a:r>
              <a:rPr lang="es-ES" dirty="0"/>
              <a:t>.</a:t>
            </a:r>
          </a:p>
          <a:p>
            <a:r>
              <a:rPr lang="en-US" dirty="0"/>
              <a:t>We will also use Python, one of the programming languages, to establish a data ingestion workflow from various information sources, including: clinical records in PDF format, databases compiled in Excel, and other documents containing patient information; to automatically insert them into the database</a:t>
            </a:r>
            <a:endParaRPr lang="es-ES" dirty="0"/>
          </a:p>
        </p:txBody>
      </p:sp>
    </p:spTree>
    <p:extLst>
      <p:ext uri="{BB962C8B-B14F-4D97-AF65-F5344CB8AC3E}">
        <p14:creationId xmlns:p14="http://schemas.microsoft.com/office/powerpoint/2010/main" val="216992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5F671E-89FA-4488-893C-C93E3692A666}"/>
              </a:ext>
            </a:extLst>
          </p:cNvPr>
          <p:cNvSpPr>
            <a:spLocks noGrp="1"/>
          </p:cNvSpPr>
          <p:nvPr>
            <p:ph type="title"/>
          </p:nvPr>
        </p:nvSpPr>
        <p:spPr/>
        <p:txBody>
          <a:bodyPr/>
          <a:lstStyle/>
          <a:p>
            <a:pPr lvl="0"/>
            <a:r>
              <a:rPr lang="es-ES" dirty="0"/>
              <a:t>New data</a:t>
            </a:r>
          </a:p>
        </p:txBody>
      </p:sp>
      <p:sp>
        <p:nvSpPr>
          <p:cNvPr id="3" name="Marcador de contenido 2">
            <a:extLst>
              <a:ext uri="{FF2B5EF4-FFF2-40B4-BE49-F238E27FC236}">
                <a16:creationId xmlns:a16="http://schemas.microsoft.com/office/drawing/2014/main" id="{3A79FC78-8184-490F-BFB8-FA9F89775C9A}"/>
              </a:ext>
            </a:extLst>
          </p:cNvPr>
          <p:cNvSpPr>
            <a:spLocks noGrp="1"/>
          </p:cNvSpPr>
          <p:nvPr>
            <p:ph idx="1"/>
          </p:nvPr>
        </p:nvSpPr>
        <p:spPr/>
        <p:txBody>
          <a:bodyPr>
            <a:normAutofit/>
          </a:bodyPr>
          <a:lstStyle/>
          <a:p>
            <a:r>
              <a:rPr lang="en-US" dirty="0"/>
              <a:t>With regard to new data, there are two options for uploading information to the database:</a:t>
            </a:r>
            <a:endParaRPr lang="es-ES" dirty="0"/>
          </a:p>
          <a:p>
            <a:r>
              <a:rPr lang="en-US" dirty="0"/>
              <a:t>1. Real-time data upload. This involves the use of various forms created using an application developed in Python and HTML, which are made available to both the patient and the doctor. They will be responsible for entering the data correctly and submitting it to the database. The major advantage of this option is the speed and accessibility of the data.</a:t>
            </a:r>
          </a:p>
          <a:p>
            <a:r>
              <a:rPr lang="en-US" dirty="0"/>
              <a:t>2. Uploading data at a specific scheduled time. In this case, a method similar to that used for collecting historical data will be employed, with the difference that data entry will be scheduled for a specific time of the day or week. Speed is sacrificed, but security and control over the data are enhanced.</a:t>
            </a:r>
            <a:endParaRPr lang="es-ES" dirty="0"/>
          </a:p>
          <a:p>
            <a:endParaRPr lang="es-ES" dirty="0"/>
          </a:p>
        </p:txBody>
      </p:sp>
    </p:spTree>
    <p:extLst>
      <p:ext uri="{BB962C8B-B14F-4D97-AF65-F5344CB8AC3E}">
        <p14:creationId xmlns:p14="http://schemas.microsoft.com/office/powerpoint/2010/main" val="2614308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AB0147-668C-4E9F-B125-BA5B815CFE33}"/>
              </a:ext>
            </a:extLst>
          </p:cNvPr>
          <p:cNvSpPr>
            <a:spLocks noGrp="1"/>
          </p:cNvSpPr>
          <p:nvPr>
            <p:ph type="title"/>
          </p:nvPr>
        </p:nvSpPr>
        <p:spPr/>
        <p:txBody>
          <a:bodyPr/>
          <a:lstStyle/>
          <a:p>
            <a:r>
              <a:rPr lang="es-ES" dirty="0"/>
              <a:t>Software Used</a:t>
            </a:r>
          </a:p>
        </p:txBody>
      </p:sp>
      <p:sp>
        <p:nvSpPr>
          <p:cNvPr id="3" name="Marcador de contenido 2">
            <a:extLst>
              <a:ext uri="{FF2B5EF4-FFF2-40B4-BE49-F238E27FC236}">
                <a16:creationId xmlns:a16="http://schemas.microsoft.com/office/drawing/2014/main" id="{B3948F3E-1CCB-4AD0-960B-416C7CBFCC83}"/>
              </a:ext>
            </a:extLst>
          </p:cNvPr>
          <p:cNvSpPr>
            <a:spLocks noGrp="1"/>
          </p:cNvSpPr>
          <p:nvPr>
            <p:ph idx="1"/>
          </p:nvPr>
        </p:nvSpPr>
        <p:spPr/>
        <p:txBody>
          <a:bodyPr/>
          <a:lstStyle/>
          <a:p>
            <a:r>
              <a:rPr lang="en-US" dirty="0"/>
              <a:t>MySQL: this is the database management system and will contain all the tables used for both analysis and </a:t>
            </a:r>
            <a:r>
              <a:rPr lang="en-US" dirty="0" err="1"/>
              <a:t>visualisation</a:t>
            </a:r>
            <a:r>
              <a:rPr lang="en-US" dirty="0"/>
              <a:t>. It is the most important component of the process. This is why this tool and interface have been chosen, as they are among the most secure and efficient for handling sensitive data and information. It guarantees the security and integrity of the data</a:t>
            </a:r>
          </a:p>
          <a:p>
            <a:r>
              <a:rPr lang="en-US" dirty="0"/>
              <a:t>Python (Visual Studio Code): this can be used to design</a:t>
            </a:r>
            <a:r>
              <a:rPr lang="es-ES" dirty="0"/>
              <a:t>:</a:t>
            </a:r>
          </a:p>
          <a:p>
            <a:pPr marL="400050" lvl="1" indent="0">
              <a:buNone/>
            </a:pPr>
            <a:r>
              <a:rPr lang="es-ES" dirty="0"/>
              <a:t>1. </a:t>
            </a:r>
            <a:r>
              <a:rPr lang="en-US" dirty="0"/>
              <a:t>The process of extracting data from different sources so that it is stored and integrated into a single database</a:t>
            </a:r>
            <a:r>
              <a:rPr lang="es-ES" dirty="0"/>
              <a:t>. </a:t>
            </a:r>
          </a:p>
          <a:p>
            <a:pPr marL="400050" lvl="1" indent="0">
              <a:buNone/>
            </a:pPr>
            <a:r>
              <a:rPr lang="es-ES" dirty="0"/>
              <a:t>2. </a:t>
            </a:r>
            <a:r>
              <a:rPr lang="en-US" dirty="0"/>
              <a:t>The applications and forms required so that both the patient and the doctor can fill in the necessary fields, enabling the data to be added to the database and </a:t>
            </a:r>
            <a:r>
              <a:rPr lang="en-US" dirty="0" err="1"/>
              <a:t>analysed</a:t>
            </a:r>
            <a:r>
              <a:rPr lang="en-US" dirty="0"/>
              <a:t> at a later stage.</a:t>
            </a:r>
            <a:endParaRPr lang="es-ES" dirty="0"/>
          </a:p>
        </p:txBody>
      </p:sp>
    </p:spTree>
    <p:extLst>
      <p:ext uri="{BB962C8B-B14F-4D97-AF65-F5344CB8AC3E}">
        <p14:creationId xmlns:p14="http://schemas.microsoft.com/office/powerpoint/2010/main" val="1965856305"/>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TM02900688[[fn=Faceta]]</Template>
  <TotalTime>30</TotalTime>
  <Words>423</Words>
  <Application>Microsoft Office PowerPoint</Application>
  <PresentationFormat>Panorámica</PresentationFormat>
  <Paragraphs>26</Paragraphs>
  <Slides>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Arial</vt:lpstr>
      <vt:lpstr>Trebuchet MS</vt:lpstr>
      <vt:lpstr>Wingdings 3</vt:lpstr>
      <vt:lpstr>Faceta</vt:lpstr>
      <vt:lpstr>COLLECTION OF INFORMATION FOR THE DATABASE</vt:lpstr>
      <vt:lpstr>CONTENTS</vt:lpstr>
      <vt:lpstr>Presentación de PowerPoint</vt:lpstr>
      <vt:lpstr>Old data</vt:lpstr>
      <vt:lpstr>New data</vt:lpstr>
      <vt:lpstr>Software Used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RECOPILACIÓN DE INFORMACIÓN PARA LA BASE DE DATOS</dc:title>
  <dc:creator>Ignacio</dc:creator>
  <cp:lastModifiedBy>Ignacio</cp:lastModifiedBy>
  <cp:revision>5</cp:revision>
  <dcterms:created xsi:type="dcterms:W3CDTF">2026-04-30T15:53:31Z</dcterms:created>
  <dcterms:modified xsi:type="dcterms:W3CDTF">2026-04-30T17:21:51Z</dcterms:modified>
</cp:coreProperties>
</file>