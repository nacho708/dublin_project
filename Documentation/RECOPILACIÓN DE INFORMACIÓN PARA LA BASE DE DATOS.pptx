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sldIdLst>
    <p:sldId id="256" r:id="rId2"/>
    <p:sldId id="261" r:id="rId3"/>
    <p:sldId id="257" r:id="rId4"/>
    <p:sldId id="258" r:id="rId5"/>
    <p:sldId id="259"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E8BDCD-25F5-4D0D-A2BD-73A76BE7FC94}" type="doc">
      <dgm:prSet loTypeId="urn:microsoft.com/office/officeart/2005/8/layout/equation2" loCatId="process" qsTypeId="urn:microsoft.com/office/officeart/2005/8/quickstyle/simple1" qsCatId="simple" csTypeId="urn:microsoft.com/office/officeart/2005/8/colors/accent1_2" csCatId="accent1" phldr="1"/>
      <dgm:spPr/>
    </dgm:pt>
    <dgm:pt modelId="{E510F885-8855-4C26-BE2D-307CF4149F81}">
      <dgm:prSet phldrT="[Texto]"/>
      <dgm:spPr/>
      <dgm:t>
        <a:bodyPr/>
        <a:lstStyle/>
        <a:p>
          <a:r>
            <a:rPr lang="es-ES" dirty="0"/>
            <a:t>Datos Antiguos</a:t>
          </a:r>
        </a:p>
      </dgm:t>
    </dgm:pt>
    <dgm:pt modelId="{63C95B88-0B0B-4A59-9392-BBF54721D9CF}" type="parTrans" cxnId="{2BE81D7F-6749-4907-81A8-15B3F101C51A}">
      <dgm:prSet/>
      <dgm:spPr/>
      <dgm:t>
        <a:bodyPr/>
        <a:lstStyle/>
        <a:p>
          <a:endParaRPr lang="es-ES"/>
        </a:p>
      </dgm:t>
    </dgm:pt>
    <dgm:pt modelId="{5046661E-5CF7-42BD-9D15-80D06BD5E515}" type="sibTrans" cxnId="{2BE81D7F-6749-4907-81A8-15B3F101C51A}">
      <dgm:prSet/>
      <dgm:spPr/>
      <dgm:t>
        <a:bodyPr/>
        <a:lstStyle/>
        <a:p>
          <a:endParaRPr lang="es-ES"/>
        </a:p>
      </dgm:t>
    </dgm:pt>
    <dgm:pt modelId="{0ED96A36-6A58-4CD1-829C-7F7A94B51C6C}">
      <dgm:prSet phldrT="[Texto]"/>
      <dgm:spPr/>
      <dgm:t>
        <a:bodyPr/>
        <a:lstStyle/>
        <a:p>
          <a:r>
            <a:rPr lang="es-ES" dirty="0"/>
            <a:t>Datos Nuevos</a:t>
          </a:r>
        </a:p>
      </dgm:t>
    </dgm:pt>
    <dgm:pt modelId="{7A0A86A1-94F7-4409-9770-DD39E41840DB}" type="parTrans" cxnId="{22CDF966-31AC-4F63-B6F6-D04D2365CF39}">
      <dgm:prSet/>
      <dgm:spPr/>
      <dgm:t>
        <a:bodyPr/>
        <a:lstStyle/>
        <a:p>
          <a:endParaRPr lang="es-ES"/>
        </a:p>
      </dgm:t>
    </dgm:pt>
    <dgm:pt modelId="{83C6093C-BF1A-4DE4-967C-1652930BD63A}" type="sibTrans" cxnId="{22CDF966-31AC-4F63-B6F6-D04D2365CF39}">
      <dgm:prSet/>
      <dgm:spPr/>
      <dgm:t>
        <a:bodyPr/>
        <a:lstStyle/>
        <a:p>
          <a:endParaRPr lang="es-ES"/>
        </a:p>
      </dgm:t>
    </dgm:pt>
    <dgm:pt modelId="{854BBFCB-52CF-492A-ADE5-F603326C25D4}">
      <dgm:prSet phldrT="[Texto]"/>
      <dgm:spPr/>
      <dgm:t>
        <a:bodyPr/>
        <a:lstStyle/>
        <a:p>
          <a:r>
            <a:rPr lang="es-ES" dirty="0"/>
            <a:t>Base de Datos</a:t>
          </a:r>
        </a:p>
      </dgm:t>
    </dgm:pt>
    <dgm:pt modelId="{6E23E204-20F4-4102-8D05-8354002BFFB1}" type="parTrans" cxnId="{3023F299-5604-4E0E-B63F-3E1BA65E9417}">
      <dgm:prSet/>
      <dgm:spPr/>
      <dgm:t>
        <a:bodyPr/>
        <a:lstStyle/>
        <a:p>
          <a:endParaRPr lang="es-ES"/>
        </a:p>
      </dgm:t>
    </dgm:pt>
    <dgm:pt modelId="{30EB4734-A7AE-4AA2-9A9C-DD5EF468736B}" type="sibTrans" cxnId="{3023F299-5604-4E0E-B63F-3E1BA65E9417}">
      <dgm:prSet/>
      <dgm:spPr/>
      <dgm:t>
        <a:bodyPr/>
        <a:lstStyle/>
        <a:p>
          <a:endParaRPr lang="es-ES"/>
        </a:p>
      </dgm:t>
    </dgm:pt>
    <dgm:pt modelId="{AD9AEED3-62C6-4760-8DAA-31B272485635}" type="pres">
      <dgm:prSet presAssocID="{78E8BDCD-25F5-4D0D-A2BD-73A76BE7FC94}" presName="Name0" presStyleCnt="0">
        <dgm:presLayoutVars>
          <dgm:dir/>
          <dgm:resizeHandles val="exact"/>
        </dgm:presLayoutVars>
      </dgm:prSet>
      <dgm:spPr/>
    </dgm:pt>
    <dgm:pt modelId="{5E7B36B7-456A-4F8A-ADFA-07415FBFAC0B}" type="pres">
      <dgm:prSet presAssocID="{78E8BDCD-25F5-4D0D-A2BD-73A76BE7FC94}" presName="vNodes" presStyleCnt="0"/>
      <dgm:spPr/>
    </dgm:pt>
    <dgm:pt modelId="{91AB6C76-1C90-4DEA-862F-8EA5D03FC5E9}" type="pres">
      <dgm:prSet presAssocID="{E510F885-8855-4C26-BE2D-307CF4149F81}" presName="node" presStyleLbl="node1" presStyleIdx="0" presStyleCnt="3">
        <dgm:presLayoutVars>
          <dgm:bulletEnabled val="1"/>
        </dgm:presLayoutVars>
      </dgm:prSet>
      <dgm:spPr/>
    </dgm:pt>
    <dgm:pt modelId="{13DC5EEB-164B-4376-90A4-8DC17CEAF820}" type="pres">
      <dgm:prSet presAssocID="{5046661E-5CF7-42BD-9D15-80D06BD5E515}" presName="spacerT" presStyleCnt="0"/>
      <dgm:spPr/>
    </dgm:pt>
    <dgm:pt modelId="{4CD02E02-2D95-42AA-AD18-6D018D3A0B5F}" type="pres">
      <dgm:prSet presAssocID="{5046661E-5CF7-42BD-9D15-80D06BD5E515}" presName="sibTrans" presStyleLbl="sibTrans2D1" presStyleIdx="0" presStyleCnt="2"/>
      <dgm:spPr/>
    </dgm:pt>
    <dgm:pt modelId="{F0710DC5-C859-41C6-B581-8D75643E9331}" type="pres">
      <dgm:prSet presAssocID="{5046661E-5CF7-42BD-9D15-80D06BD5E515}" presName="spacerB" presStyleCnt="0"/>
      <dgm:spPr/>
    </dgm:pt>
    <dgm:pt modelId="{65E1F5DE-FD20-417A-A84A-BA086A62742F}" type="pres">
      <dgm:prSet presAssocID="{0ED96A36-6A58-4CD1-829C-7F7A94B51C6C}" presName="node" presStyleLbl="node1" presStyleIdx="1" presStyleCnt="3">
        <dgm:presLayoutVars>
          <dgm:bulletEnabled val="1"/>
        </dgm:presLayoutVars>
      </dgm:prSet>
      <dgm:spPr/>
    </dgm:pt>
    <dgm:pt modelId="{DFE7C09E-E706-4F3E-824A-B5231AF4A1ED}" type="pres">
      <dgm:prSet presAssocID="{78E8BDCD-25F5-4D0D-A2BD-73A76BE7FC94}" presName="sibTransLast" presStyleLbl="sibTrans2D1" presStyleIdx="1" presStyleCnt="2"/>
      <dgm:spPr/>
    </dgm:pt>
    <dgm:pt modelId="{604F8566-64AF-40EB-B79C-2AE6BE7641EA}" type="pres">
      <dgm:prSet presAssocID="{78E8BDCD-25F5-4D0D-A2BD-73A76BE7FC94}" presName="connectorText" presStyleLbl="sibTrans2D1" presStyleIdx="1" presStyleCnt="2"/>
      <dgm:spPr/>
    </dgm:pt>
    <dgm:pt modelId="{E3B2D040-AD34-40F4-BA29-39FEB8A99207}" type="pres">
      <dgm:prSet presAssocID="{78E8BDCD-25F5-4D0D-A2BD-73A76BE7FC94}" presName="lastNode" presStyleLbl="node1" presStyleIdx="2" presStyleCnt="3">
        <dgm:presLayoutVars>
          <dgm:bulletEnabled val="1"/>
        </dgm:presLayoutVars>
      </dgm:prSet>
      <dgm:spPr/>
    </dgm:pt>
  </dgm:ptLst>
  <dgm:cxnLst>
    <dgm:cxn modelId="{6F29C518-6086-4BA0-80F0-B9290F9152F1}" type="presOf" srcId="{83C6093C-BF1A-4DE4-967C-1652930BD63A}" destId="{DFE7C09E-E706-4F3E-824A-B5231AF4A1ED}" srcOrd="0" destOrd="0" presId="urn:microsoft.com/office/officeart/2005/8/layout/equation2"/>
    <dgm:cxn modelId="{CA868021-AD34-4ED6-A265-18D3A22C2C7A}" type="presOf" srcId="{E510F885-8855-4C26-BE2D-307CF4149F81}" destId="{91AB6C76-1C90-4DEA-862F-8EA5D03FC5E9}" srcOrd="0" destOrd="0" presId="urn:microsoft.com/office/officeart/2005/8/layout/equation2"/>
    <dgm:cxn modelId="{58479D21-5C49-44EA-AA2C-B766B354E954}" type="presOf" srcId="{78E8BDCD-25F5-4D0D-A2BD-73A76BE7FC94}" destId="{AD9AEED3-62C6-4760-8DAA-31B272485635}" srcOrd="0" destOrd="0" presId="urn:microsoft.com/office/officeart/2005/8/layout/equation2"/>
    <dgm:cxn modelId="{8327A335-EE0F-4264-8CA4-EEA905E05FBF}" type="presOf" srcId="{0ED96A36-6A58-4CD1-829C-7F7A94B51C6C}" destId="{65E1F5DE-FD20-417A-A84A-BA086A62742F}" srcOrd="0" destOrd="0" presId="urn:microsoft.com/office/officeart/2005/8/layout/equation2"/>
    <dgm:cxn modelId="{9AA94866-622A-41FA-B6D6-2412D3F2826B}" type="presOf" srcId="{5046661E-5CF7-42BD-9D15-80D06BD5E515}" destId="{4CD02E02-2D95-42AA-AD18-6D018D3A0B5F}" srcOrd="0" destOrd="0" presId="urn:microsoft.com/office/officeart/2005/8/layout/equation2"/>
    <dgm:cxn modelId="{22CDF966-31AC-4F63-B6F6-D04D2365CF39}" srcId="{78E8BDCD-25F5-4D0D-A2BD-73A76BE7FC94}" destId="{0ED96A36-6A58-4CD1-829C-7F7A94B51C6C}" srcOrd="1" destOrd="0" parTransId="{7A0A86A1-94F7-4409-9770-DD39E41840DB}" sibTransId="{83C6093C-BF1A-4DE4-967C-1652930BD63A}"/>
    <dgm:cxn modelId="{2BE81D7F-6749-4907-81A8-15B3F101C51A}" srcId="{78E8BDCD-25F5-4D0D-A2BD-73A76BE7FC94}" destId="{E510F885-8855-4C26-BE2D-307CF4149F81}" srcOrd="0" destOrd="0" parTransId="{63C95B88-0B0B-4A59-9392-BBF54721D9CF}" sibTransId="{5046661E-5CF7-42BD-9D15-80D06BD5E515}"/>
    <dgm:cxn modelId="{131CE47F-A9FD-4C18-8849-41EADD6CB5E7}" type="presOf" srcId="{854BBFCB-52CF-492A-ADE5-F603326C25D4}" destId="{E3B2D040-AD34-40F4-BA29-39FEB8A99207}" srcOrd="0" destOrd="0" presId="urn:microsoft.com/office/officeart/2005/8/layout/equation2"/>
    <dgm:cxn modelId="{3023F299-5604-4E0E-B63F-3E1BA65E9417}" srcId="{78E8BDCD-25F5-4D0D-A2BD-73A76BE7FC94}" destId="{854BBFCB-52CF-492A-ADE5-F603326C25D4}" srcOrd="2" destOrd="0" parTransId="{6E23E204-20F4-4102-8D05-8354002BFFB1}" sibTransId="{30EB4734-A7AE-4AA2-9A9C-DD5EF468736B}"/>
    <dgm:cxn modelId="{3C5719A9-B007-4581-AF08-A541AEB8A83C}" type="presOf" srcId="{83C6093C-BF1A-4DE4-967C-1652930BD63A}" destId="{604F8566-64AF-40EB-B79C-2AE6BE7641EA}" srcOrd="1" destOrd="0" presId="urn:microsoft.com/office/officeart/2005/8/layout/equation2"/>
    <dgm:cxn modelId="{08D660D8-CBE6-47CA-AD28-DACD7E48B88E}" type="presParOf" srcId="{AD9AEED3-62C6-4760-8DAA-31B272485635}" destId="{5E7B36B7-456A-4F8A-ADFA-07415FBFAC0B}" srcOrd="0" destOrd="0" presId="urn:microsoft.com/office/officeart/2005/8/layout/equation2"/>
    <dgm:cxn modelId="{F60C4DE0-F72D-4704-9B36-BA159A9C5AC8}" type="presParOf" srcId="{5E7B36B7-456A-4F8A-ADFA-07415FBFAC0B}" destId="{91AB6C76-1C90-4DEA-862F-8EA5D03FC5E9}" srcOrd="0" destOrd="0" presId="urn:microsoft.com/office/officeart/2005/8/layout/equation2"/>
    <dgm:cxn modelId="{7E54C5DD-118C-4FC2-BE02-37331DDDF632}" type="presParOf" srcId="{5E7B36B7-456A-4F8A-ADFA-07415FBFAC0B}" destId="{13DC5EEB-164B-4376-90A4-8DC17CEAF820}" srcOrd="1" destOrd="0" presId="urn:microsoft.com/office/officeart/2005/8/layout/equation2"/>
    <dgm:cxn modelId="{B475498F-9C15-425B-ACDD-259F235DCDFE}" type="presParOf" srcId="{5E7B36B7-456A-4F8A-ADFA-07415FBFAC0B}" destId="{4CD02E02-2D95-42AA-AD18-6D018D3A0B5F}" srcOrd="2" destOrd="0" presId="urn:microsoft.com/office/officeart/2005/8/layout/equation2"/>
    <dgm:cxn modelId="{B66F5E99-162E-447A-9A60-53F76EA9C980}" type="presParOf" srcId="{5E7B36B7-456A-4F8A-ADFA-07415FBFAC0B}" destId="{F0710DC5-C859-41C6-B581-8D75643E9331}" srcOrd="3" destOrd="0" presId="urn:microsoft.com/office/officeart/2005/8/layout/equation2"/>
    <dgm:cxn modelId="{E7B761FD-E30C-4D72-97B2-99668569D781}" type="presParOf" srcId="{5E7B36B7-456A-4F8A-ADFA-07415FBFAC0B}" destId="{65E1F5DE-FD20-417A-A84A-BA086A62742F}" srcOrd="4" destOrd="0" presId="urn:microsoft.com/office/officeart/2005/8/layout/equation2"/>
    <dgm:cxn modelId="{3D459BE6-FC2C-450B-984F-8A987DD18DA4}" type="presParOf" srcId="{AD9AEED3-62C6-4760-8DAA-31B272485635}" destId="{DFE7C09E-E706-4F3E-824A-B5231AF4A1ED}" srcOrd="1" destOrd="0" presId="urn:microsoft.com/office/officeart/2005/8/layout/equation2"/>
    <dgm:cxn modelId="{DD6E5FA2-1E33-47E7-B201-9EEFD3081373}" type="presParOf" srcId="{DFE7C09E-E706-4F3E-824A-B5231AF4A1ED}" destId="{604F8566-64AF-40EB-B79C-2AE6BE7641EA}" srcOrd="0" destOrd="0" presId="urn:microsoft.com/office/officeart/2005/8/layout/equation2"/>
    <dgm:cxn modelId="{5E6D9B73-0632-4D51-8239-05D0E73D17CD}" type="presParOf" srcId="{AD9AEED3-62C6-4760-8DAA-31B272485635}" destId="{E3B2D040-AD34-40F4-BA29-39FEB8A99207}" srcOrd="2" destOrd="0" presId="urn:microsoft.com/office/officeart/2005/8/layout/equati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AB6C76-1C90-4DEA-862F-8EA5D03FC5E9}">
      <dsp:nvSpPr>
        <dsp:cNvPr id="0" name=""/>
        <dsp:cNvSpPr/>
      </dsp:nvSpPr>
      <dsp:spPr>
        <a:xfrm>
          <a:off x="509984" y="1963"/>
          <a:ext cx="1974453" cy="1974453"/>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es-ES" sz="2700" kern="1200" dirty="0"/>
            <a:t>Datos Antiguos</a:t>
          </a:r>
        </a:p>
      </dsp:txBody>
      <dsp:txXfrm>
        <a:off x="799136" y="291115"/>
        <a:ext cx="1396149" cy="1396149"/>
      </dsp:txXfrm>
    </dsp:sp>
    <dsp:sp modelId="{4CD02E02-2D95-42AA-AD18-6D018D3A0B5F}">
      <dsp:nvSpPr>
        <dsp:cNvPr id="0" name=""/>
        <dsp:cNvSpPr/>
      </dsp:nvSpPr>
      <dsp:spPr>
        <a:xfrm>
          <a:off x="924619" y="2136742"/>
          <a:ext cx="1145182" cy="1145182"/>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s-ES" sz="2000" kern="1200"/>
        </a:p>
      </dsp:txBody>
      <dsp:txXfrm>
        <a:off x="1076413" y="2574660"/>
        <a:ext cx="841594" cy="269346"/>
      </dsp:txXfrm>
    </dsp:sp>
    <dsp:sp modelId="{65E1F5DE-FD20-417A-A84A-BA086A62742F}">
      <dsp:nvSpPr>
        <dsp:cNvPr id="0" name=""/>
        <dsp:cNvSpPr/>
      </dsp:nvSpPr>
      <dsp:spPr>
        <a:xfrm>
          <a:off x="509984" y="3442250"/>
          <a:ext cx="1974453" cy="1974453"/>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es-ES" sz="2700" kern="1200" dirty="0"/>
            <a:t>Datos Nuevos</a:t>
          </a:r>
        </a:p>
      </dsp:txBody>
      <dsp:txXfrm>
        <a:off x="799136" y="3731402"/>
        <a:ext cx="1396149" cy="1396149"/>
      </dsp:txXfrm>
    </dsp:sp>
    <dsp:sp modelId="{DFE7C09E-E706-4F3E-824A-B5231AF4A1ED}">
      <dsp:nvSpPr>
        <dsp:cNvPr id="0" name=""/>
        <dsp:cNvSpPr/>
      </dsp:nvSpPr>
      <dsp:spPr>
        <a:xfrm>
          <a:off x="2780605" y="2342085"/>
          <a:ext cx="627876" cy="73449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s-ES" sz="2200" kern="1200"/>
        </a:p>
      </dsp:txBody>
      <dsp:txXfrm>
        <a:off x="2780605" y="2488984"/>
        <a:ext cx="439513" cy="440698"/>
      </dsp:txXfrm>
    </dsp:sp>
    <dsp:sp modelId="{E3B2D040-AD34-40F4-BA29-39FEB8A99207}">
      <dsp:nvSpPr>
        <dsp:cNvPr id="0" name=""/>
        <dsp:cNvSpPr/>
      </dsp:nvSpPr>
      <dsp:spPr>
        <a:xfrm>
          <a:off x="3669109" y="734880"/>
          <a:ext cx="3948906" cy="3948906"/>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r>
            <a:rPr lang="es-ES" sz="6500" kern="1200" dirty="0"/>
            <a:t>Base de Datos</a:t>
          </a:r>
        </a:p>
      </dsp:txBody>
      <dsp:txXfrm>
        <a:off x="4247413" y="1313184"/>
        <a:ext cx="2792298" cy="2792298"/>
      </dsp:txXfrm>
    </dsp:sp>
  </dsp:spTree>
</dsp:drawing>
</file>

<file path=ppt/diagrams/layout1.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1274545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4146983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469373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E7C34B3-676D-475D-A622-CA16B705BD98}" type="datetimeFigureOut">
              <a:rPr lang="es-ES" smtClean="0"/>
              <a:t>30/04/2026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3764357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E7C34B3-676D-475D-A622-CA16B705BD98}" type="datetimeFigureOut">
              <a:rPr lang="es-ES" smtClean="0"/>
              <a:t>30/04/2026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1461563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E7C34B3-676D-475D-A622-CA16B705BD98}" type="datetimeFigureOut">
              <a:rPr lang="es-ES" smtClean="0"/>
              <a:t>30/04/2026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84512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7C34B3-676D-475D-A622-CA16B705BD98}" type="datetimeFigureOut">
              <a:rPr lang="es-ES" smtClean="0"/>
              <a:t>30/04/2026</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40025004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E7C34B3-676D-475D-A622-CA16B705BD98}" type="datetimeFigureOut">
              <a:rPr lang="es-ES" smtClean="0"/>
              <a:t>30/04/2026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1982247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5C0062F-B457-4FB4-8670-D2C7E7C4E3CC}" type="slidenum">
              <a:rPr lang="es-ES" smtClean="0"/>
              <a:t>‹Nº›</a:t>
            </a:fld>
            <a:endParaRPr lang="es-ES"/>
          </a:p>
        </p:txBody>
      </p:sp>
      <p:sp>
        <p:nvSpPr>
          <p:cNvPr id="5" name="Date Placeholder 4"/>
          <p:cNvSpPr>
            <a:spLocks noGrp="1"/>
          </p:cNvSpPr>
          <p:nvPr>
            <p:ph type="dt" sz="half" idx="10"/>
          </p:nvPr>
        </p:nvSpPr>
        <p:spPr/>
        <p:txBody>
          <a:bodyPr/>
          <a:lstStyle/>
          <a:p>
            <a:fld id="{4E7C34B3-676D-475D-A622-CA16B705BD98}" type="datetimeFigureOut">
              <a:rPr lang="es-ES" smtClean="0"/>
              <a:t>30/04/2026</a:t>
            </a:fld>
            <a:endParaRPr lang="es-ES"/>
          </a:p>
        </p:txBody>
      </p:sp>
    </p:spTree>
    <p:extLst>
      <p:ext uri="{BB962C8B-B14F-4D97-AF65-F5344CB8AC3E}">
        <p14:creationId xmlns:p14="http://schemas.microsoft.com/office/powerpoint/2010/main" val="867322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2672758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798366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6802552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059248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2044685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33117168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250395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E7C34B3-676D-475D-A622-CA16B705BD98}" type="datetimeFigureOut">
              <a:rPr lang="es-ES" smtClean="0"/>
              <a:t>30/04/2026</a:t>
            </a:fld>
            <a:endParaRPr lang="es-E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5C0062F-B457-4FB4-8670-D2C7E7C4E3CC}" type="slidenum">
              <a:rPr lang="es-ES" smtClean="0"/>
              <a:t>‹Nº›</a:t>
            </a:fld>
            <a:endParaRPr lang="es-ES"/>
          </a:p>
        </p:txBody>
      </p:sp>
    </p:spTree>
    <p:extLst>
      <p:ext uri="{BB962C8B-B14F-4D97-AF65-F5344CB8AC3E}">
        <p14:creationId xmlns:p14="http://schemas.microsoft.com/office/powerpoint/2010/main" val="4000574180"/>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B9BFB2-ECF7-49AA-9C55-1FFB7866506E}"/>
              </a:ext>
            </a:extLst>
          </p:cNvPr>
          <p:cNvSpPr>
            <a:spLocks noGrp="1"/>
          </p:cNvSpPr>
          <p:nvPr>
            <p:ph type="ctrTitle"/>
          </p:nvPr>
        </p:nvSpPr>
        <p:spPr/>
        <p:txBody>
          <a:bodyPr>
            <a:normAutofit fontScale="90000"/>
          </a:bodyPr>
          <a:lstStyle/>
          <a:p>
            <a:r>
              <a:rPr lang="es-ES" dirty="0"/>
              <a:t>RECOPILACIÓN DE INFORMACIÓN PARA LA BASE DE DATOS</a:t>
            </a:r>
          </a:p>
        </p:txBody>
      </p:sp>
    </p:spTree>
    <p:extLst>
      <p:ext uri="{BB962C8B-B14F-4D97-AF65-F5344CB8AC3E}">
        <p14:creationId xmlns:p14="http://schemas.microsoft.com/office/powerpoint/2010/main" val="209354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0DABDD-3872-44F5-9770-A0F3D053D54C}"/>
              </a:ext>
            </a:extLst>
          </p:cNvPr>
          <p:cNvSpPr>
            <a:spLocks noGrp="1"/>
          </p:cNvSpPr>
          <p:nvPr>
            <p:ph type="title"/>
          </p:nvPr>
        </p:nvSpPr>
        <p:spPr/>
        <p:txBody>
          <a:bodyPr/>
          <a:lstStyle/>
          <a:p>
            <a:r>
              <a:rPr lang="es-ES" dirty="0"/>
              <a:t>ÍNDICE</a:t>
            </a:r>
          </a:p>
        </p:txBody>
      </p:sp>
      <p:sp>
        <p:nvSpPr>
          <p:cNvPr id="3" name="Marcador de contenido 2">
            <a:extLst>
              <a:ext uri="{FF2B5EF4-FFF2-40B4-BE49-F238E27FC236}">
                <a16:creationId xmlns:a16="http://schemas.microsoft.com/office/drawing/2014/main" id="{F6A5DAD3-FEE0-45C4-9E3E-3B31A6B4CB8F}"/>
              </a:ext>
            </a:extLst>
          </p:cNvPr>
          <p:cNvSpPr>
            <a:spLocks noGrp="1"/>
          </p:cNvSpPr>
          <p:nvPr>
            <p:ph idx="1"/>
          </p:nvPr>
        </p:nvSpPr>
        <p:spPr/>
        <p:txBody>
          <a:bodyPr/>
          <a:lstStyle/>
          <a:p>
            <a:pPr>
              <a:buAutoNum type="arabicPeriod"/>
            </a:pPr>
            <a:r>
              <a:rPr lang="es-ES" dirty="0"/>
              <a:t>Flujo de la Base de Datos</a:t>
            </a:r>
          </a:p>
          <a:p>
            <a:pPr>
              <a:buAutoNum type="arabicPeriod"/>
            </a:pPr>
            <a:endParaRPr lang="es-ES" dirty="0"/>
          </a:p>
          <a:p>
            <a:pPr>
              <a:buAutoNum type="arabicPeriod"/>
            </a:pPr>
            <a:r>
              <a:rPr lang="es-ES" dirty="0"/>
              <a:t>Datos antiguos</a:t>
            </a:r>
          </a:p>
          <a:p>
            <a:pPr>
              <a:buAutoNum type="arabicPeriod"/>
            </a:pPr>
            <a:endParaRPr lang="es-ES" dirty="0"/>
          </a:p>
          <a:p>
            <a:pPr>
              <a:buAutoNum type="arabicPeriod"/>
            </a:pPr>
            <a:r>
              <a:rPr lang="es-ES" dirty="0"/>
              <a:t>Datos nuevos</a:t>
            </a:r>
          </a:p>
          <a:p>
            <a:pPr>
              <a:buAutoNum type="arabicPeriod"/>
            </a:pPr>
            <a:endParaRPr lang="es-ES" dirty="0"/>
          </a:p>
          <a:p>
            <a:pPr>
              <a:buAutoNum type="arabicPeriod"/>
            </a:pPr>
            <a:r>
              <a:rPr lang="es-ES" dirty="0"/>
              <a:t>Herramientas utilizadas</a:t>
            </a:r>
          </a:p>
        </p:txBody>
      </p:sp>
    </p:spTree>
    <p:extLst>
      <p:ext uri="{BB962C8B-B14F-4D97-AF65-F5344CB8AC3E}">
        <p14:creationId xmlns:p14="http://schemas.microsoft.com/office/powerpoint/2010/main" val="1400650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a 6">
            <a:extLst>
              <a:ext uri="{FF2B5EF4-FFF2-40B4-BE49-F238E27FC236}">
                <a16:creationId xmlns:a16="http://schemas.microsoft.com/office/drawing/2014/main" id="{21608392-F9AC-4BFD-AFA9-346CB60821E9}"/>
              </a:ext>
            </a:extLst>
          </p:cNvPr>
          <p:cNvGraphicFramePr/>
          <p:nvPr>
            <p:extLst>
              <p:ext uri="{D42A27DB-BD31-4B8C-83A1-F6EECF244321}">
                <p14:modId xmlns:p14="http://schemas.microsoft.com/office/powerpoint/2010/main" val="658736562"/>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5899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0DABDD-3872-44F5-9770-A0F3D053D54C}"/>
              </a:ext>
            </a:extLst>
          </p:cNvPr>
          <p:cNvSpPr>
            <a:spLocks noGrp="1"/>
          </p:cNvSpPr>
          <p:nvPr>
            <p:ph type="title"/>
          </p:nvPr>
        </p:nvSpPr>
        <p:spPr/>
        <p:txBody>
          <a:bodyPr/>
          <a:lstStyle/>
          <a:p>
            <a:r>
              <a:rPr lang="es-ES" dirty="0"/>
              <a:t>Datos antiguos</a:t>
            </a:r>
          </a:p>
        </p:txBody>
      </p:sp>
      <p:sp>
        <p:nvSpPr>
          <p:cNvPr id="3" name="Marcador de contenido 2">
            <a:extLst>
              <a:ext uri="{FF2B5EF4-FFF2-40B4-BE49-F238E27FC236}">
                <a16:creationId xmlns:a16="http://schemas.microsoft.com/office/drawing/2014/main" id="{F6A5DAD3-FEE0-45C4-9E3E-3B31A6B4CB8F}"/>
              </a:ext>
            </a:extLst>
          </p:cNvPr>
          <p:cNvSpPr>
            <a:spLocks noGrp="1"/>
          </p:cNvSpPr>
          <p:nvPr>
            <p:ph idx="1"/>
          </p:nvPr>
        </p:nvSpPr>
        <p:spPr/>
        <p:txBody>
          <a:bodyPr/>
          <a:lstStyle/>
          <a:p>
            <a:r>
              <a:rPr lang="es-ES" dirty="0"/>
              <a:t>Son los datos existentes recogidos de los pacientes que serán agregados para la creación de la base de datos primaria. </a:t>
            </a:r>
          </a:p>
          <a:p>
            <a:r>
              <a:rPr lang="es-ES" dirty="0"/>
              <a:t>Estos nos va a servir para conformar la estructura inicial y que sirvan como modelo para la ingesta de datos futuros.</a:t>
            </a:r>
          </a:p>
          <a:p>
            <a:r>
              <a:rPr lang="es-ES" dirty="0"/>
              <a:t>Para ello utilizaremos MySQL, un potente gestor de base de datos ideal para crear esquemas y agregar un gran volumen de datos de forma rápida y eficiente.</a:t>
            </a:r>
          </a:p>
          <a:p>
            <a:r>
              <a:rPr lang="es-ES" dirty="0"/>
              <a:t>También se utilizará Python unos de los lenguajes de programación para establecer un flujo de carga desde diferentes fuentes de información, ya sean: historiales clínicos en PDF, bases de datos anotadas en Excel y otros documentos que reflejen la información del paciente; para insertarlos en la Base de Datos de forma automática</a:t>
            </a:r>
          </a:p>
          <a:p>
            <a:pPr marL="0" indent="0">
              <a:buNone/>
            </a:pPr>
            <a:endParaRPr lang="es-ES" dirty="0"/>
          </a:p>
        </p:txBody>
      </p:sp>
    </p:spTree>
    <p:extLst>
      <p:ext uri="{BB962C8B-B14F-4D97-AF65-F5344CB8AC3E}">
        <p14:creationId xmlns:p14="http://schemas.microsoft.com/office/powerpoint/2010/main" val="216992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5F671E-89FA-4488-893C-C93E3692A666}"/>
              </a:ext>
            </a:extLst>
          </p:cNvPr>
          <p:cNvSpPr>
            <a:spLocks noGrp="1"/>
          </p:cNvSpPr>
          <p:nvPr>
            <p:ph type="title"/>
          </p:nvPr>
        </p:nvSpPr>
        <p:spPr/>
        <p:txBody>
          <a:bodyPr/>
          <a:lstStyle/>
          <a:p>
            <a:r>
              <a:rPr lang="es-ES" dirty="0"/>
              <a:t>Datos Nuevos</a:t>
            </a:r>
          </a:p>
        </p:txBody>
      </p:sp>
      <p:sp>
        <p:nvSpPr>
          <p:cNvPr id="3" name="Marcador de contenido 2">
            <a:extLst>
              <a:ext uri="{FF2B5EF4-FFF2-40B4-BE49-F238E27FC236}">
                <a16:creationId xmlns:a16="http://schemas.microsoft.com/office/drawing/2014/main" id="{3A79FC78-8184-490F-BFB8-FA9F89775C9A}"/>
              </a:ext>
            </a:extLst>
          </p:cNvPr>
          <p:cNvSpPr>
            <a:spLocks noGrp="1"/>
          </p:cNvSpPr>
          <p:nvPr>
            <p:ph idx="1"/>
          </p:nvPr>
        </p:nvSpPr>
        <p:spPr/>
        <p:txBody>
          <a:bodyPr>
            <a:normAutofit lnSpcReduction="10000"/>
          </a:bodyPr>
          <a:lstStyle/>
          <a:p>
            <a:r>
              <a:rPr lang="es-ES" dirty="0"/>
              <a:t>Con respecto a los datos nuevos, se plantean dos opciones de carga de la información en la Base de Datos:</a:t>
            </a:r>
          </a:p>
          <a:p>
            <a:r>
              <a:rPr lang="es-ES" dirty="0"/>
              <a:t>1. Carga de los datos en tiempo real. Para ello se utilizan diferentes formularios creados a través de una aplicación desarrollada en Python y HTML, que se ponen a disposición tanto del paciente y como del doctor. Estos serán los responsables de rellenar los datos correctamente y de enviar estos datos a la base de datos. La gran ventaja de esta opción es la rapidez y accesibilidad de los datos.</a:t>
            </a:r>
          </a:p>
          <a:p>
            <a:r>
              <a:rPr lang="es-ES" dirty="0"/>
              <a:t>2. Carga de los datos mediante una periodificación escogida concreta. En este caso, se utilizará un método similar al utilizado en la recopilación de los datos antiguos con el matiz de que aquí la ingesta de los datos va a estar programada para un momento concreto en el día o semana. Se pierde rapidez pero se gana en seguridad y control de los datos.</a:t>
            </a:r>
          </a:p>
          <a:p>
            <a:endParaRPr lang="es-ES" dirty="0"/>
          </a:p>
          <a:p>
            <a:endParaRPr lang="es-ES" dirty="0"/>
          </a:p>
        </p:txBody>
      </p:sp>
    </p:spTree>
    <p:extLst>
      <p:ext uri="{BB962C8B-B14F-4D97-AF65-F5344CB8AC3E}">
        <p14:creationId xmlns:p14="http://schemas.microsoft.com/office/powerpoint/2010/main" val="2614308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AB0147-668C-4E9F-B125-BA5B815CFE33}"/>
              </a:ext>
            </a:extLst>
          </p:cNvPr>
          <p:cNvSpPr>
            <a:spLocks noGrp="1"/>
          </p:cNvSpPr>
          <p:nvPr>
            <p:ph type="title"/>
          </p:nvPr>
        </p:nvSpPr>
        <p:spPr/>
        <p:txBody>
          <a:bodyPr/>
          <a:lstStyle/>
          <a:p>
            <a:r>
              <a:rPr lang="es-ES" dirty="0"/>
              <a:t>Programas Utilizados</a:t>
            </a:r>
          </a:p>
        </p:txBody>
      </p:sp>
      <p:sp>
        <p:nvSpPr>
          <p:cNvPr id="3" name="Marcador de contenido 2">
            <a:extLst>
              <a:ext uri="{FF2B5EF4-FFF2-40B4-BE49-F238E27FC236}">
                <a16:creationId xmlns:a16="http://schemas.microsoft.com/office/drawing/2014/main" id="{B3948F3E-1CCB-4AD0-960B-416C7CBFCC83}"/>
              </a:ext>
            </a:extLst>
          </p:cNvPr>
          <p:cNvSpPr>
            <a:spLocks noGrp="1"/>
          </p:cNvSpPr>
          <p:nvPr>
            <p:ph idx="1"/>
          </p:nvPr>
        </p:nvSpPr>
        <p:spPr/>
        <p:txBody>
          <a:bodyPr/>
          <a:lstStyle/>
          <a:p>
            <a:r>
              <a:rPr lang="es-ES" dirty="0"/>
              <a:t>MySQL: es el gestor de la base de datos y poseerá todas las tablas que se utilicen tanto para el análisis como para la visualización. Es la pieza más importante del proceso. Por eso se selecciona esta herramienta y esta interfaz, porque es una de las más seguras y eficientes para tratar datos e información sensible. Garantiza la seguridad e integridad de los datos</a:t>
            </a:r>
          </a:p>
          <a:p>
            <a:r>
              <a:rPr lang="es-ES" dirty="0"/>
              <a:t>Python (Visual Studio </a:t>
            </a:r>
            <a:r>
              <a:rPr lang="es-ES" dirty="0" err="1"/>
              <a:t>Code</a:t>
            </a:r>
            <a:r>
              <a:rPr lang="es-ES" dirty="0"/>
              <a:t>): con ella se pueden diseñar:</a:t>
            </a:r>
          </a:p>
          <a:p>
            <a:pPr marL="0" indent="0">
              <a:buNone/>
            </a:pPr>
            <a:r>
              <a:rPr lang="es-ES" dirty="0"/>
              <a:t>1.  El proceso de extracción de diferentes fuentes de información para que queden almacenadas e integradas en una única base de datos. </a:t>
            </a:r>
          </a:p>
          <a:p>
            <a:pPr marL="0" indent="0">
              <a:buNone/>
            </a:pPr>
            <a:r>
              <a:rPr lang="es-ES" dirty="0"/>
              <a:t>2. Las aplicaciones y formularios necesarios para que, tanto el paciente como el doctor, rellenen los campos necesarios para que puedan ser agregados a la base de datos y puedan ser analizados posteriormente.</a:t>
            </a:r>
          </a:p>
          <a:p>
            <a:endParaRPr lang="es-ES" dirty="0"/>
          </a:p>
        </p:txBody>
      </p:sp>
    </p:spTree>
    <p:extLst>
      <p:ext uri="{BB962C8B-B14F-4D97-AF65-F5344CB8AC3E}">
        <p14:creationId xmlns:p14="http://schemas.microsoft.com/office/powerpoint/2010/main" val="1965856305"/>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TM02900688[[fn=Faceta]]</Template>
  <TotalTime>22</TotalTime>
  <Words>471</Words>
  <Application>Microsoft Office PowerPoint</Application>
  <PresentationFormat>Panorámica</PresentationFormat>
  <Paragraphs>26</Paragraphs>
  <Slides>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Arial</vt:lpstr>
      <vt:lpstr>Trebuchet MS</vt:lpstr>
      <vt:lpstr>Wingdings 3</vt:lpstr>
      <vt:lpstr>Faceta</vt:lpstr>
      <vt:lpstr>RECOPILACIÓN DE INFORMACIÓN PARA LA BASE DE DATOS</vt:lpstr>
      <vt:lpstr>ÍNDICE</vt:lpstr>
      <vt:lpstr>Presentación de PowerPoint</vt:lpstr>
      <vt:lpstr>Datos antiguos</vt:lpstr>
      <vt:lpstr>Datos Nuevos</vt:lpstr>
      <vt:lpstr>Programas Utilizados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RECOPILACIÓN DE INFORMACIÓN PARA LA BASE DE DATOS</dc:title>
  <dc:creator>Ignacio</dc:creator>
  <cp:lastModifiedBy>Ignacio</cp:lastModifiedBy>
  <cp:revision>4</cp:revision>
  <dcterms:created xsi:type="dcterms:W3CDTF">2026-04-30T15:53:31Z</dcterms:created>
  <dcterms:modified xsi:type="dcterms:W3CDTF">2026-04-30T16:15:39Z</dcterms:modified>
</cp:coreProperties>
</file>